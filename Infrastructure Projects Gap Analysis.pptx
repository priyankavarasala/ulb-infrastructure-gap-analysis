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InfrastructureProjectsGapAnalysis/InfrastructureProjectsGapAnalysi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29675A25-5210-406D-8E5C-D29D39FB49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846" y="283031"/>
            <a:ext cx="9144000" cy="1107031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Infrastructure Projects Gap Analysis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AD7E84DF-3CEF-4AB8-B3D0-79E198EAC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555" y="1494239"/>
            <a:ext cx="9144000" cy="699996"/>
          </a:xfrm>
        </p:spPr>
        <p:txBody>
          <a:bodyPr>
            <a:normAutofit/>
          </a:bodyPr>
          <a:lstStyle/>
          <a:p>
            <a:pPr algn="just"/>
            <a:r>
              <a:rPr lang="en-US" sz="1800" i="1" dirty="0"/>
              <a:t>The portfolio shows significant execution pressure, with 6,600 projects either delayed or still in progress, requiring focused management attention.</a:t>
            </a:r>
            <a:endParaRPr sz="1600" i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CA301D-BF54-37E7-1673-435B894D9F4B}"/>
              </a:ext>
            </a:extLst>
          </p:cNvPr>
          <p:cNvSpPr/>
          <p:nvPr/>
        </p:nvSpPr>
        <p:spPr>
          <a:xfrm>
            <a:off x="809897" y="2499360"/>
            <a:ext cx="1942012" cy="1367246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TOTAL PROJECTS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10,000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4F6D88-783A-C3AA-8385-90F526D1BE11}"/>
              </a:ext>
            </a:extLst>
          </p:cNvPr>
          <p:cNvSpPr/>
          <p:nvPr/>
        </p:nvSpPr>
        <p:spPr>
          <a:xfrm>
            <a:off x="809897" y="2499360"/>
            <a:ext cx="121920" cy="136724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C93E6B-88DA-D090-7A3E-CE64CC02495F}"/>
              </a:ext>
            </a:extLst>
          </p:cNvPr>
          <p:cNvSpPr/>
          <p:nvPr/>
        </p:nvSpPr>
        <p:spPr>
          <a:xfrm>
            <a:off x="3470366" y="2499360"/>
            <a:ext cx="1942012" cy="1367246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DELAYED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3308</a:t>
            </a:r>
          </a:p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0F9701-9E68-273C-5BF8-42298EFF8EFE}"/>
              </a:ext>
            </a:extLst>
          </p:cNvPr>
          <p:cNvSpPr/>
          <p:nvPr/>
        </p:nvSpPr>
        <p:spPr>
          <a:xfrm>
            <a:off x="3470366" y="2499360"/>
            <a:ext cx="121920" cy="136724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87A002-9858-3B66-7336-040310FE1191}"/>
              </a:ext>
            </a:extLst>
          </p:cNvPr>
          <p:cNvSpPr/>
          <p:nvPr/>
        </p:nvSpPr>
        <p:spPr>
          <a:xfrm>
            <a:off x="809897" y="4376057"/>
            <a:ext cx="1942012" cy="1367246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COMPLETED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3400</a:t>
            </a:r>
          </a:p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8EF59B-C90E-98FC-1DCF-6E758ED885F4}"/>
              </a:ext>
            </a:extLst>
          </p:cNvPr>
          <p:cNvSpPr/>
          <p:nvPr/>
        </p:nvSpPr>
        <p:spPr>
          <a:xfrm>
            <a:off x="809897" y="4376057"/>
            <a:ext cx="121920" cy="136724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337B5B-CAAD-42A7-3F05-BEE0655B5825}"/>
              </a:ext>
            </a:extLst>
          </p:cNvPr>
          <p:cNvSpPr/>
          <p:nvPr/>
        </p:nvSpPr>
        <p:spPr>
          <a:xfrm>
            <a:off x="3470366" y="4376057"/>
            <a:ext cx="1942012" cy="1367246"/>
          </a:xfrm>
          <a:prstGeom prst="round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IN</a:t>
            </a:r>
            <a:r>
              <a:rPr lang="en-US" dirty="0"/>
              <a:t> 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PROGRESS</a:t>
            </a:r>
          </a:p>
          <a:p>
            <a:pPr algn="ctr"/>
            <a:endParaRPr lang="en-US" dirty="0"/>
          </a:p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3292</a:t>
            </a:r>
          </a:p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33DEAE-6DB6-E381-F0D1-51825D8BA8C2}"/>
              </a:ext>
            </a:extLst>
          </p:cNvPr>
          <p:cNvSpPr/>
          <p:nvPr/>
        </p:nvSpPr>
        <p:spPr>
          <a:xfrm>
            <a:off x="3470366" y="4376057"/>
            <a:ext cx="121920" cy="13672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4AB55E-88E0-C730-76AA-A057727D38DF}"/>
              </a:ext>
            </a:extLst>
          </p:cNvPr>
          <p:cNvSpPr txBox="1"/>
          <p:nvPr/>
        </p:nvSpPr>
        <p:spPr>
          <a:xfrm>
            <a:off x="6601098" y="3762429"/>
            <a:ext cx="4781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      66% of projects are not yet completed</a:t>
            </a:r>
          </a:p>
        </p:txBody>
      </p:sp>
      <p:sp>
        <p:nvSpPr>
          <p:cNvPr id="20" name="Star: 5 Points 19">
            <a:extLst>
              <a:ext uri="{FF2B5EF4-FFF2-40B4-BE49-F238E27FC236}">
                <a16:creationId xmlns:a16="http://schemas.microsoft.com/office/drawing/2014/main" id="{DFD24F91-187E-45DB-D31B-4CDA1081E910}"/>
              </a:ext>
            </a:extLst>
          </p:cNvPr>
          <p:cNvSpPr/>
          <p:nvPr/>
        </p:nvSpPr>
        <p:spPr>
          <a:xfrm>
            <a:off x="6766558" y="3866606"/>
            <a:ext cx="182881" cy="166375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B39F9984-5911-05C0-E203-C34F338A573B}"/>
              </a:ext>
            </a:extLst>
          </p:cNvPr>
          <p:cNvSpPr/>
          <p:nvPr/>
        </p:nvSpPr>
        <p:spPr>
          <a:xfrm>
            <a:off x="6766557" y="4239836"/>
            <a:ext cx="182881" cy="166375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97EAE9-B33A-479B-D039-B4A6FC4AF46A}"/>
              </a:ext>
            </a:extLst>
          </p:cNvPr>
          <p:cNvSpPr txBox="1"/>
          <p:nvPr/>
        </p:nvSpPr>
        <p:spPr>
          <a:xfrm>
            <a:off x="6857997" y="4138357"/>
            <a:ext cx="374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 Delayed Projects need attention first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613414F-08BE-45B8-1CC6-E91837AF4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46700"/>
          <a:stretch>
            <a:fillRect/>
          </a:stretch>
        </p:blipFill>
        <p:spPr>
          <a:xfrm>
            <a:off x="529589" y="865550"/>
            <a:ext cx="9206594" cy="2974930"/>
          </a:xfrm>
          <a:prstGeom prst="rect">
            <a:avLst/>
          </a:prstGeom>
        </p:spPr>
      </p:pic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D1909001-68BE-19AA-CE8F-71D0D74044E9}"/>
              </a:ext>
            </a:extLst>
          </p:cNvPr>
          <p:cNvSpPr/>
          <p:nvPr/>
        </p:nvSpPr>
        <p:spPr>
          <a:xfrm>
            <a:off x="677634" y="4966945"/>
            <a:ext cx="182881" cy="166375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01AC0E-0B06-80CC-670D-EBA55087C5C1}"/>
              </a:ext>
            </a:extLst>
          </p:cNvPr>
          <p:cNvSpPr txBox="1"/>
          <p:nvPr/>
        </p:nvSpPr>
        <p:spPr>
          <a:xfrm>
            <a:off x="927462" y="4810155"/>
            <a:ext cx="103370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/>
              <a:t>Nellore and Tirupati district have the highest average progress gap and should be prioritized for project-level investigation and recovery planning followed by Guntur district.</a:t>
            </a:r>
          </a:p>
        </p:txBody>
      </p:sp>
    </p:spTree>
    <p:extLst>
      <p:ext uri="{BB962C8B-B14F-4D97-AF65-F5344CB8AC3E}">
        <p14:creationId xmlns:p14="http://schemas.microsoft.com/office/powerpoint/2010/main" val="43709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6B3780F-6479-2CD4-73E6-134AD25929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8272" y="619024"/>
            <a:ext cx="5477693" cy="4488057"/>
          </a:xfrm>
          <a:prstGeom prst="rect">
            <a:avLst/>
          </a:prstGeom>
        </p:spPr>
      </p:pic>
      <p:sp>
        <p:nvSpPr>
          <p:cNvPr id="10" name="Star: 5 Points 9">
            <a:extLst>
              <a:ext uri="{FF2B5EF4-FFF2-40B4-BE49-F238E27FC236}">
                <a16:creationId xmlns:a16="http://schemas.microsoft.com/office/drawing/2014/main" id="{C1DD4A7D-70A6-C26D-3379-0B4D881EE711}"/>
              </a:ext>
            </a:extLst>
          </p:cNvPr>
          <p:cNvSpPr/>
          <p:nvPr/>
        </p:nvSpPr>
        <p:spPr>
          <a:xfrm>
            <a:off x="6857181" y="1999882"/>
            <a:ext cx="182881" cy="166375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B2F54A-A000-D2CD-7941-B21209FAEEFD}"/>
              </a:ext>
            </a:extLst>
          </p:cNvPr>
          <p:cNvSpPr txBox="1"/>
          <p:nvPr/>
        </p:nvSpPr>
        <p:spPr>
          <a:xfrm>
            <a:off x="7209063" y="1662724"/>
            <a:ext cx="3720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i="1" dirty="0"/>
              <a:t>Delay is concentrated in Water Supply and Roads Projects , creating an opportunity for targeted root-cause analysis.</a:t>
            </a:r>
          </a:p>
        </p:txBody>
      </p:sp>
    </p:spTree>
    <p:extLst>
      <p:ext uri="{BB962C8B-B14F-4D97-AF65-F5344CB8AC3E}">
        <p14:creationId xmlns:p14="http://schemas.microsoft.com/office/powerpoint/2010/main" val="425853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7AD8DB4-BF41-EE0E-0438-BBA2B1F106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5125"/>
          <a:stretch>
            <a:fillRect/>
          </a:stretch>
        </p:blipFill>
        <p:spPr>
          <a:xfrm>
            <a:off x="825953" y="428246"/>
            <a:ext cx="6306367" cy="3000754"/>
          </a:xfrm>
          <a:prstGeom prst="rect">
            <a:avLst/>
          </a:prstGeom>
        </p:spPr>
      </p:pic>
      <p:sp>
        <p:nvSpPr>
          <p:cNvPr id="5" name="Star: 5 Points 4">
            <a:extLst>
              <a:ext uri="{FF2B5EF4-FFF2-40B4-BE49-F238E27FC236}">
                <a16:creationId xmlns:a16="http://schemas.microsoft.com/office/drawing/2014/main" id="{671B062B-CC1F-2E49-20D6-596ED8242210}"/>
              </a:ext>
            </a:extLst>
          </p:cNvPr>
          <p:cNvSpPr/>
          <p:nvPr/>
        </p:nvSpPr>
        <p:spPr>
          <a:xfrm>
            <a:off x="1127759" y="4460508"/>
            <a:ext cx="182881" cy="166375"/>
          </a:xfrm>
          <a:prstGeom prst="star5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CFB614-E01C-66C0-9205-9F1EE1FF19FD}"/>
              </a:ext>
            </a:extLst>
          </p:cNvPr>
          <p:cNvSpPr txBox="1"/>
          <p:nvPr/>
        </p:nvSpPr>
        <p:spPr>
          <a:xfrm>
            <a:off x="1417863" y="4220531"/>
            <a:ext cx="9554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Drainage</a:t>
            </a:r>
            <a:r>
              <a:rPr lang="en-US" dirty="0"/>
              <a:t> </a:t>
            </a:r>
            <a:r>
              <a:rPr lang="en-US" b="1" i="1" dirty="0"/>
              <a:t>projects show the highest cost overrun at 1.32%, indicating potential cost pressure and requiring closer budget monitoring.</a:t>
            </a:r>
          </a:p>
        </p:txBody>
      </p:sp>
    </p:spTree>
    <p:extLst>
      <p:ext uri="{BB962C8B-B14F-4D97-AF65-F5344CB8AC3E}">
        <p14:creationId xmlns:p14="http://schemas.microsoft.com/office/powerpoint/2010/main" val="3523385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32FE28-A444-076E-D950-D9D135EE473E}"/>
              </a:ext>
            </a:extLst>
          </p:cNvPr>
          <p:cNvSpPr/>
          <p:nvPr/>
        </p:nvSpPr>
        <p:spPr>
          <a:xfrm>
            <a:off x="1576251" y="4828899"/>
            <a:ext cx="6831875" cy="857794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              delayed projects through regular district level reviews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A6DE144-29F2-5BBA-6E8F-AE723097A77D}"/>
              </a:ext>
            </a:extLst>
          </p:cNvPr>
          <p:cNvSpPr/>
          <p:nvPr/>
        </p:nvSpPr>
        <p:spPr>
          <a:xfrm>
            <a:off x="1754776" y="3170464"/>
            <a:ext cx="6653350" cy="857795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   contractor-level cost performance and positive cost variances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EBA8E0-0296-3605-E588-DF587B783991}"/>
              </a:ext>
            </a:extLst>
          </p:cNvPr>
          <p:cNvSpPr/>
          <p:nvPr/>
        </p:nvSpPr>
        <p:spPr>
          <a:xfrm>
            <a:off x="1754776" y="1566452"/>
            <a:ext cx="6653350" cy="827314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          high-gap districts and high-delay categories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3EA1EA-DE8B-76CD-F058-38FEBA9BB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52" y="278040"/>
            <a:ext cx="10515600" cy="66248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Reporting to Action: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19BDBEF-D823-7AFA-930F-714D30C54460}"/>
              </a:ext>
            </a:extLst>
          </p:cNvPr>
          <p:cNvSpPr/>
          <p:nvPr/>
        </p:nvSpPr>
        <p:spPr>
          <a:xfrm>
            <a:off x="731520" y="1436915"/>
            <a:ext cx="1471749" cy="1036319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C00000"/>
                </a:solidFill>
              </a:rPr>
              <a:t>Prioritize</a:t>
            </a:r>
            <a:endParaRPr lang="en-US" sz="1400" b="1" dirty="0">
              <a:solidFill>
                <a:srgbClr val="C00000"/>
              </a:solidFill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A12D097C-72D0-07FC-D1F4-1ECBDBE58F9A}"/>
              </a:ext>
            </a:extLst>
          </p:cNvPr>
          <p:cNvSpPr/>
          <p:nvPr/>
        </p:nvSpPr>
        <p:spPr>
          <a:xfrm>
            <a:off x="1576251" y="2597331"/>
            <a:ext cx="121920" cy="33963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BE3686-2CF9-5875-F90E-F330144C1D22}"/>
              </a:ext>
            </a:extLst>
          </p:cNvPr>
          <p:cNvSpPr/>
          <p:nvPr/>
        </p:nvSpPr>
        <p:spPr>
          <a:xfrm>
            <a:off x="731520" y="3030581"/>
            <a:ext cx="1471749" cy="1123406"/>
          </a:xfrm>
          <a:prstGeom prst="ellipse">
            <a:avLst/>
          </a:prstGeom>
          <a:solidFill>
            <a:schemeClr val="bg1"/>
          </a:solidFill>
          <a:ln>
            <a:solidFill>
              <a:srgbClr val="00206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Investigate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081A502-D225-4705-6E68-7734C2B8E95E}"/>
              </a:ext>
            </a:extLst>
          </p:cNvPr>
          <p:cNvSpPr/>
          <p:nvPr/>
        </p:nvSpPr>
        <p:spPr>
          <a:xfrm>
            <a:off x="1576251" y="4278085"/>
            <a:ext cx="121920" cy="33963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AB303AF-778C-6F7F-BDD5-3E53078C46A1}"/>
              </a:ext>
            </a:extLst>
          </p:cNvPr>
          <p:cNvSpPr/>
          <p:nvPr/>
        </p:nvSpPr>
        <p:spPr>
          <a:xfrm>
            <a:off x="731520" y="4711335"/>
            <a:ext cx="1471749" cy="1092923"/>
          </a:xfrm>
          <a:prstGeom prst="ellipse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B050"/>
                </a:solidFill>
              </a:rPr>
              <a:t>Monitor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99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77332B-7061-56E3-CE80-57FC6FF84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592182"/>
            <a:ext cx="10903131" cy="4911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7A56BE-F623-32D4-02F5-D7D2708DD239}"/>
              </a:ext>
            </a:extLst>
          </p:cNvPr>
          <p:cNvSpPr txBox="1"/>
          <p:nvPr/>
        </p:nvSpPr>
        <p:spPr>
          <a:xfrm>
            <a:off x="548640" y="5733288"/>
            <a:ext cx="1090313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*This dashboard gives an overall view of the infrastructure portfolio and highlights where management attention is required.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23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163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Infrastructure Projects Gap Analysis</vt:lpstr>
      <vt:lpstr>PowerPoint Presentation</vt:lpstr>
      <vt:lpstr>PowerPoint Presentation</vt:lpstr>
      <vt:lpstr>PowerPoint Presentation</vt:lpstr>
      <vt:lpstr>From Reporting to Action: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sudheer babu</cp:lastModifiedBy>
  <cp:revision>2</cp:revision>
  <dcterms:created xsi:type="dcterms:W3CDTF">2026-08-13T12:28:39Z</dcterms:created>
  <dcterms:modified xsi:type="dcterms:W3CDTF">2026-08-13T14:44:20Z</dcterms:modified>
</cp:coreProperties>
</file>